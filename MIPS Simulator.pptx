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notesMasterIdLst>
    <p:notesMasterId r:id="rId25"/>
  </p:notesMasterIdLst>
  <p:handoutMasterIdLst>
    <p:handoutMasterId r:id="rId26"/>
  </p:handoutMasterIdLst>
  <p:sldIdLst>
    <p:sldId id="260" r:id="rId2"/>
    <p:sldId id="261" r:id="rId3"/>
    <p:sldId id="262" r:id="rId4"/>
    <p:sldId id="287" r:id="rId5"/>
    <p:sldId id="288" r:id="rId6"/>
    <p:sldId id="289" r:id="rId7"/>
    <p:sldId id="285" r:id="rId8"/>
    <p:sldId id="284" r:id="rId9"/>
    <p:sldId id="265" r:id="rId10"/>
    <p:sldId id="272" r:id="rId11"/>
    <p:sldId id="266" r:id="rId12"/>
    <p:sldId id="275" r:id="rId13"/>
    <p:sldId id="274" r:id="rId14"/>
    <p:sldId id="263" r:id="rId15"/>
    <p:sldId id="273" r:id="rId16"/>
    <p:sldId id="276" r:id="rId17"/>
    <p:sldId id="277" r:id="rId18"/>
    <p:sldId id="278" r:id="rId19"/>
    <p:sldId id="279" r:id="rId20"/>
    <p:sldId id="280" r:id="rId21"/>
    <p:sldId id="281" r:id="rId22"/>
    <p:sldId id="290" r:id="rId23"/>
    <p:sldId id="2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EE3394-F596-0D07-0377-C55BEC4707A5}" v="1451" dt="2026-04-20T17:07:58.124"/>
    <p1510:client id="{6A3B6E26-DBBE-6897-4A5B-8C5C4D5AD916}" v="34" dt="2026-04-20T10:29:12.269"/>
    <p1510:client id="{6B8A7C56-DD96-419C-D2AF-56202C35370D}" v="4" dt="2026-04-20T14:02:33.276"/>
    <p1510:client id="{A9CA5099-1590-B300-A63E-945D220A8566}" v="16" dt="2026-04-20T10:24:49.598"/>
    <p1510:client id="{EFE69FA7-720E-BAEC-7897-F3158BAEC0C1}" v="6" dt="2026-04-20T09:59:43.148"/>
    <p1510:client id="{FC17C340-5FF7-D65B-1333-2433216EAA0E}" v="5" dt="2026-04-21T02:52:12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4/20/2026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4/20/2026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4/20/2026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4/20/2026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4/20/2026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4/20/2026</a:t>
            </a:fld>
            <a:endParaRPr lang="en-US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4/20/2026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MIPS Simulator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4142724" cy="2164583"/>
          </a:xfrm>
        </p:spPr>
        <p:txBody>
          <a:bodyPr anchor="t">
            <a:normAutofit/>
          </a:bodyPr>
          <a:lstStyle/>
          <a:p>
            <a:r>
              <a:rPr lang="en-US" sz="1600">
                <a:ea typeface="+mn-lt"/>
                <a:cs typeface="+mn-lt"/>
              </a:rPr>
              <a:t>CS3339 - Computer Architecture  |  Spring 2026</a:t>
            </a:r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/>
              <a:t>Alex Aquino</a:t>
            </a:r>
          </a:p>
          <a:p>
            <a:r>
              <a:rPr lang="en-US" sz="1600"/>
              <a:t>John Nichols</a:t>
            </a:r>
          </a:p>
          <a:p>
            <a:r>
              <a:rPr lang="en-US" sz="1600"/>
              <a:t>Tyrell Drones</a:t>
            </a:r>
          </a:p>
          <a:p>
            <a:r>
              <a:rPr lang="en-US" sz="1600"/>
              <a:t>Zane Zezulka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DC68-AA08-773B-67D0-219F4442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220BD-2F1D-47E4-FE38-4181B0328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>
                <a:ea typeface="+mn-lt"/>
                <a:cs typeface="+mn-lt"/>
              </a:rPr>
              <a:t>Goal: </a:t>
            </a:r>
            <a:r>
              <a:rPr lang="en-US">
                <a:ea typeface="+mn-lt"/>
                <a:cs typeface="+mn-lt"/>
              </a:rPr>
              <a:t>Simulate a pipelined MIPS processor instruction-by-instruction in Python.</a:t>
            </a:r>
          </a:p>
          <a:p>
            <a:r>
              <a:rPr lang="en-US" b="1">
                <a:ea typeface="+mn-lt"/>
                <a:cs typeface="+mn-lt"/>
              </a:rPr>
              <a:t>Core Capabilities:</a:t>
            </a:r>
            <a:endParaRPr lang="en-US"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Full 5-Stage Pipeline (IF, ID, EX, MEM, WB).</a:t>
            </a:r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4 explicit pipeline latch </a:t>
            </a:r>
            <a:r>
              <a:rPr lang="en-US" err="1">
                <a:ea typeface="+mn-lt"/>
                <a:cs typeface="+mn-lt"/>
              </a:rPr>
              <a:t>dataclasses</a:t>
            </a:r>
            <a:r>
              <a:rPr lang="en-US">
                <a:ea typeface="+mn-lt"/>
                <a:cs typeface="+mn-lt"/>
              </a:rPr>
              <a:t> (IF/ID, ID/EX, EX/MEM, MEM/WB) </a:t>
            </a:r>
          </a:p>
          <a:p>
            <a:pPr marL="285750" indent="-285750">
              <a:buChar char="•"/>
            </a:pPr>
            <a:r>
              <a:rPr lang="en-US" sz="1300">
                <a:ea typeface="+mn-lt"/>
                <a:cs typeface="+mn-lt"/>
              </a:rPr>
              <a:t>32-register file, word-addressed sparse memory </a:t>
            </a:r>
            <a:endParaRPr lang="en-US"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Full control unit with 9 signals per instruction</a:t>
            </a:r>
            <a:endParaRPr lang="en-US" sz="1300"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13 supported instructions (all from the project spec) </a:t>
            </a:r>
            <a:endParaRPr lang="en-US"/>
          </a:p>
          <a:p>
            <a:pPr marL="285750" indent="-285750">
              <a:buChar char="•"/>
            </a:pPr>
            <a:r>
              <a:rPr lang="en-US" b="1">
                <a:ea typeface="+mn-lt"/>
                <a:cs typeface="+mn-lt"/>
              </a:rPr>
              <a:t>Key Constraint:</a:t>
            </a:r>
            <a:r>
              <a:rPr lang="en-US">
                <a:ea typeface="+mn-lt"/>
                <a:cs typeface="+mn-lt"/>
              </a:rPr>
              <a:t> Assumes hazard-free code (programmer/compiler inserts NOPs).</a:t>
            </a:r>
          </a:p>
          <a:p>
            <a:r>
              <a:rPr lang="en-US" b="1"/>
              <a:t>How to run</a:t>
            </a:r>
          </a:p>
          <a:p>
            <a:r>
              <a:rPr lang="en-US">
                <a:ea typeface="+mn-lt"/>
                <a:cs typeface="+mn-lt"/>
              </a:rPr>
              <a:t># Normal mode</a:t>
            </a:r>
          </a:p>
          <a:p>
            <a:r>
              <a:rPr lang="en-US">
                <a:solidFill>
                  <a:srgbClr val="2A0053"/>
                </a:solidFill>
                <a:ea typeface="+mn-lt"/>
                <a:cs typeface="+mn-lt"/>
              </a:rPr>
              <a:t>python "</a:t>
            </a:r>
            <a:r>
              <a:rPr lang="en-US" err="1">
                <a:solidFill>
                  <a:srgbClr val="2A0053"/>
                </a:solidFill>
                <a:ea typeface="+mn-lt"/>
                <a:cs typeface="+mn-lt"/>
              </a:rPr>
              <a:t>Mips</a:t>
            </a:r>
            <a:r>
              <a:rPr lang="en-US">
                <a:solidFill>
                  <a:srgbClr val="2A0053"/>
                </a:solidFill>
                <a:ea typeface="+mn-lt"/>
                <a:cs typeface="+mn-lt"/>
              </a:rPr>
              <a:t> Sim.py" test.asm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# Debug mode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python "</a:t>
            </a:r>
            <a:r>
              <a:rPr lang="en-US" err="1">
                <a:ea typeface="+mn-lt"/>
                <a:cs typeface="+mn-lt"/>
              </a:rPr>
              <a:t>Mips</a:t>
            </a:r>
            <a:r>
              <a:rPr lang="en-US">
                <a:ea typeface="+mn-lt"/>
                <a:cs typeface="+mn-lt"/>
              </a:rPr>
              <a:t> Sim.py" test.asm -d</a:t>
            </a: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5918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72F7-D417-E54F-D790-00550B14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70B1-8A6E-7369-444E-5FD0B059D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sz="2000" b="1">
                <a:ea typeface="+mn-lt"/>
                <a:cs typeface="+mn-lt"/>
              </a:rPr>
              <a:t>Register File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2000" b="1">
                <a:ea typeface="+mn-lt"/>
                <a:cs typeface="+mn-lt"/>
              </a:rPr>
              <a:t>Memory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2000" b="1">
                <a:ea typeface="+mn-lt"/>
                <a:cs typeface="+mn-lt"/>
              </a:rPr>
              <a:t>Assembler 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 b="1">
                <a:ea typeface="+mn-lt"/>
                <a:cs typeface="+mn-lt"/>
              </a:rPr>
              <a:t>Control Unit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ea typeface="+mn-lt"/>
                <a:cs typeface="+mn-lt"/>
              </a:rPr>
              <a:t>ALU</a:t>
            </a:r>
          </a:p>
          <a:p>
            <a:endParaRPr lang="en-US">
              <a:ea typeface="+mn-lt"/>
              <a:cs typeface="+mn-lt"/>
            </a:endParaRPr>
          </a:p>
          <a:p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9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00EB-5CAD-6DFE-3A8A-377E8E1B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8F42-2B68-3394-BB90-AAE272B6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Register File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4BC0-31D8-2EE3-B985-4BDC1BEA8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A List with 32 indices that hold 32 bits. </a:t>
            </a:r>
          </a:p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$zero hardwired to 0</a:t>
            </a:r>
          </a:p>
          <a:p>
            <a:pPr marL="342900" indent="-342900">
              <a:buChar char="•"/>
            </a:pPr>
            <a:r>
              <a:rPr lang="en-US" sz="2000"/>
              <a:t>Read and write capabilities</a:t>
            </a:r>
          </a:p>
          <a:p>
            <a:pPr marL="342900" indent="-342900">
              <a:buChar char="•"/>
            </a:pPr>
            <a:r>
              <a:rPr lang="en-US" sz="2000"/>
              <a:t>Able to dump all 32 registers to terminal</a:t>
            </a:r>
          </a:p>
        </p:txBody>
      </p:sp>
    </p:spTree>
    <p:extLst>
      <p:ext uri="{BB962C8B-B14F-4D97-AF65-F5344CB8AC3E}">
        <p14:creationId xmlns:p14="http://schemas.microsoft.com/office/powerpoint/2010/main" val="189733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8296D-AC1A-8AD8-07BD-F4D46BC3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829E-67C4-B6D2-6418-655A557EB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Memory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185A1-ADDA-9296-927A-BDA67F21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Dictionary maps an address to 32-bit word</a:t>
            </a:r>
          </a:p>
          <a:p>
            <a:pPr marL="342900" indent="-342900">
              <a:buChar char="•"/>
            </a:pPr>
            <a:r>
              <a:rPr lang="en-US" sz="2000"/>
              <a:t>load and store capabilities</a:t>
            </a:r>
          </a:p>
          <a:p>
            <a:pPr marL="342900" indent="-342900">
              <a:buChar char="•"/>
            </a:pPr>
            <a:r>
              <a:rPr lang="en-US" sz="2000"/>
              <a:t>Dump all non-zero memory locations to terminal</a:t>
            </a:r>
          </a:p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raise errors on unaligned access.</a:t>
            </a:r>
          </a:p>
          <a:p>
            <a:pPr marL="342900" indent="-342900">
              <a:buChar char="•"/>
            </a:pP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4300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8E0F-83CA-98A6-B9BF-674683BED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99AF-D112-5503-7B20-2BBB91F5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Assembler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B24FF-E776-796C-ADDB-B709BBBD6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Two-pass assembler:  </a:t>
            </a:r>
          </a:p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Pass 1: strip comments, collect label -&gt; word-index mapping.</a:t>
            </a:r>
            <a:endParaRPr lang="en-US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Pass 2:parse each instruction, resolve branch/jump labels.</a:t>
            </a:r>
          </a:p>
          <a:p>
            <a:pPr marL="342900" indent="-342900">
              <a:buChar char="•"/>
            </a:pPr>
            <a:r>
              <a:rPr lang="en-US" sz="2000"/>
              <a:t>Returns </a:t>
            </a:r>
            <a:r>
              <a:rPr lang="en-US" sz="2000">
                <a:ea typeface="+mn-lt"/>
                <a:cs typeface="+mn-lt"/>
              </a:rPr>
              <a:t>a list of Instruction objects</a:t>
            </a:r>
          </a:p>
        </p:txBody>
      </p:sp>
    </p:spTree>
    <p:extLst>
      <p:ext uri="{BB962C8B-B14F-4D97-AF65-F5344CB8AC3E}">
        <p14:creationId xmlns:p14="http://schemas.microsoft.com/office/powerpoint/2010/main" val="1400602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B46E8-9BE0-8252-6E7B-17F13490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11ED-117E-00AD-3224-7C7DB4C8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Control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703E-7893-6BF5-3CC0-F8948877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ea typeface="+mn-lt"/>
                <a:cs typeface="+mn-lt"/>
              </a:rPr>
              <a:t>returns a </a:t>
            </a:r>
            <a:r>
              <a:rPr lang="en-US" sz="2000" err="1">
                <a:ea typeface="+mn-lt"/>
                <a:cs typeface="+mn-lt"/>
              </a:rPr>
              <a:t>ControlSignals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dataclass</a:t>
            </a:r>
            <a:r>
              <a:rPr lang="en-US" sz="2000">
                <a:ea typeface="+mn-lt"/>
                <a:cs typeface="+mn-lt"/>
              </a:rPr>
              <a:t> with 9 signals: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reg_dst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alu_src</a:t>
            </a:r>
          </a:p>
          <a:p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mem_to_reg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reg_write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mem_read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mem_write</a:t>
            </a:r>
            <a:endParaRPr lang="en-US" sz="2000" err="1"/>
          </a:p>
          <a:p>
            <a:r>
              <a:rPr lang="en-US" sz="2000">
                <a:ea typeface="+mn-lt"/>
                <a:cs typeface="+mn-lt"/>
              </a:rPr>
              <a:t> branch</a:t>
            </a:r>
          </a:p>
          <a:p>
            <a:r>
              <a:rPr lang="en-US" sz="2000">
                <a:ea typeface="+mn-lt"/>
                <a:cs typeface="+mn-lt"/>
              </a:rPr>
              <a:t> jump</a:t>
            </a:r>
          </a:p>
          <a:p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alu_op</a:t>
            </a:r>
            <a:endParaRPr lang="en-US" sz="2000" err="1"/>
          </a:p>
          <a:p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E7EA7-FBD3-0E04-B40E-4301F837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DB40-0613-C290-6477-7D1DF88E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167A-95AC-095A-357E-3663B7C7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Handles all ops.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sign_extend_16()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to_signed32()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7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1D74-FAFE-3EEE-2D05-8A2F8342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System Architecture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F6E6B-ECFC-351C-44CF-3598B368E486}"/>
              </a:ext>
            </a:extLst>
          </p:cNvPr>
          <p:cNvSpPr txBox="1"/>
          <p:nvPr/>
        </p:nvSpPr>
        <p:spPr>
          <a:xfrm>
            <a:off x="2523434" y="3867954"/>
            <a:ext cx="1246448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Fetch</a:t>
            </a:r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A89E35-2E24-9BDE-D7DF-D7B735D13368}"/>
              </a:ext>
            </a:extLst>
          </p:cNvPr>
          <p:cNvCxnSpPr>
            <a:cxnSpLocks/>
          </p:cNvCxnSpPr>
          <p:nvPr/>
        </p:nvCxnSpPr>
        <p:spPr>
          <a:xfrm>
            <a:off x="3770427" y="4355908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237754-5711-49F9-DB01-57209FE4F7D2}"/>
              </a:ext>
            </a:extLst>
          </p:cNvPr>
          <p:cNvSpPr txBox="1"/>
          <p:nvPr/>
        </p:nvSpPr>
        <p:spPr>
          <a:xfrm>
            <a:off x="4057871" y="3867953"/>
            <a:ext cx="1225571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Decode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24BCE-4098-3166-16DE-AC8E9DB01982}"/>
              </a:ext>
            </a:extLst>
          </p:cNvPr>
          <p:cNvSpPr txBox="1"/>
          <p:nvPr/>
        </p:nvSpPr>
        <p:spPr>
          <a:xfrm>
            <a:off x="3603802" y="2944159"/>
            <a:ext cx="677556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IF_ID</a:t>
            </a:r>
          </a:p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C35891-0152-CB4D-13C9-C5246D7E0A39}"/>
              </a:ext>
            </a:extLst>
          </p:cNvPr>
          <p:cNvCxnSpPr>
            <a:cxnSpLocks/>
          </p:cNvCxnSpPr>
          <p:nvPr/>
        </p:nvCxnSpPr>
        <p:spPr>
          <a:xfrm>
            <a:off x="3911344" y="3593909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47059A-01BB-6BED-BE32-E74F424A2579}"/>
              </a:ext>
            </a:extLst>
          </p:cNvPr>
          <p:cNvCxnSpPr>
            <a:cxnSpLocks/>
          </p:cNvCxnSpPr>
          <p:nvPr/>
        </p:nvCxnSpPr>
        <p:spPr>
          <a:xfrm>
            <a:off x="6134714" y="4303716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4CC659-ED5A-08D2-3328-530B8048848A}"/>
              </a:ext>
            </a:extLst>
          </p:cNvPr>
          <p:cNvSpPr txBox="1"/>
          <p:nvPr/>
        </p:nvSpPr>
        <p:spPr>
          <a:xfrm>
            <a:off x="5581870" y="3894047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Execute</a:t>
            </a:r>
          </a:p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B577E8-F518-2B7F-734A-D31BA15B19F2}"/>
              </a:ext>
            </a:extLst>
          </p:cNvPr>
          <p:cNvCxnSpPr>
            <a:cxnSpLocks/>
          </p:cNvCxnSpPr>
          <p:nvPr/>
        </p:nvCxnSpPr>
        <p:spPr>
          <a:xfrm>
            <a:off x="5283988" y="4382003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A68BE4-A409-914F-57AA-4937CCDDE008}"/>
              </a:ext>
            </a:extLst>
          </p:cNvPr>
          <p:cNvCxnSpPr>
            <a:cxnSpLocks/>
          </p:cNvCxnSpPr>
          <p:nvPr/>
        </p:nvCxnSpPr>
        <p:spPr>
          <a:xfrm>
            <a:off x="5398809" y="359390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FFF7CB-422E-7653-FCB7-B87F5FEA1A8B}"/>
              </a:ext>
            </a:extLst>
          </p:cNvPr>
          <p:cNvSpPr txBox="1"/>
          <p:nvPr/>
        </p:nvSpPr>
        <p:spPr>
          <a:xfrm>
            <a:off x="5059952" y="2944158"/>
            <a:ext cx="745405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ID_EX</a:t>
            </a:r>
          </a:p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1A20D7-8678-2C5D-3C63-C38330B91AA0}"/>
              </a:ext>
            </a:extLst>
          </p:cNvPr>
          <p:cNvCxnSpPr>
            <a:cxnSpLocks/>
          </p:cNvCxnSpPr>
          <p:nvPr/>
        </p:nvCxnSpPr>
        <p:spPr>
          <a:xfrm>
            <a:off x="6562686" y="4382002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AA2269-E4E3-33BE-FA8B-DDFE1BCC5F7D}"/>
              </a:ext>
            </a:extLst>
          </p:cNvPr>
          <p:cNvSpPr txBox="1"/>
          <p:nvPr/>
        </p:nvSpPr>
        <p:spPr>
          <a:xfrm>
            <a:off x="6850129" y="3920142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Memory</a:t>
            </a:r>
          </a:p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1C2C53-8B34-DDD6-A2B1-E8769899BC35}"/>
              </a:ext>
            </a:extLst>
          </p:cNvPr>
          <p:cNvCxnSpPr>
            <a:cxnSpLocks/>
          </p:cNvCxnSpPr>
          <p:nvPr/>
        </p:nvCxnSpPr>
        <p:spPr>
          <a:xfrm>
            <a:off x="6703603" y="3614784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B82D27A-1FB7-342C-93F7-04F5DC328AF5}"/>
              </a:ext>
            </a:extLst>
          </p:cNvPr>
          <p:cNvSpPr txBox="1"/>
          <p:nvPr/>
        </p:nvSpPr>
        <p:spPr>
          <a:xfrm>
            <a:off x="6166419" y="2944157"/>
            <a:ext cx="101680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EX_MEM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DDF8E-1C1B-5CFB-4000-2D0BCAA91BC4}"/>
              </a:ext>
            </a:extLst>
          </p:cNvPr>
          <p:cNvSpPr txBox="1"/>
          <p:nvPr/>
        </p:nvSpPr>
        <p:spPr>
          <a:xfrm>
            <a:off x="8118389" y="3956675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Write Back</a:t>
            </a:r>
          </a:p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62BED0-8540-BD21-1B0E-D74D0ACE85DE}"/>
              </a:ext>
            </a:extLst>
          </p:cNvPr>
          <p:cNvCxnSpPr>
            <a:cxnSpLocks/>
          </p:cNvCxnSpPr>
          <p:nvPr/>
        </p:nvCxnSpPr>
        <p:spPr>
          <a:xfrm>
            <a:off x="7830945" y="4382001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48D58C-5E4C-7DFD-6056-8BCAE097002C}"/>
              </a:ext>
            </a:extLst>
          </p:cNvPr>
          <p:cNvCxnSpPr>
            <a:cxnSpLocks/>
          </p:cNvCxnSpPr>
          <p:nvPr/>
        </p:nvCxnSpPr>
        <p:spPr>
          <a:xfrm>
            <a:off x="7971862" y="364609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106FAE6-92EC-238B-67E5-84632DB3AD0C}"/>
              </a:ext>
            </a:extLst>
          </p:cNvPr>
          <p:cNvSpPr txBox="1"/>
          <p:nvPr/>
        </p:nvSpPr>
        <p:spPr>
          <a:xfrm>
            <a:off x="7434679" y="2944157"/>
            <a:ext cx="113684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MEM_WB</a:t>
            </a:r>
          </a:p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3462B1-FF1D-601A-D144-E3925BD28D15}"/>
              </a:ext>
            </a:extLst>
          </p:cNvPr>
          <p:cNvCxnSpPr>
            <a:cxnSpLocks/>
          </p:cNvCxnSpPr>
          <p:nvPr/>
        </p:nvCxnSpPr>
        <p:spPr>
          <a:xfrm>
            <a:off x="4281906" y="3265099"/>
            <a:ext cx="770476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D069BE-70E9-C2AE-D338-98314ABDF994}"/>
              </a:ext>
            </a:extLst>
          </p:cNvPr>
          <p:cNvCxnSpPr>
            <a:cxnSpLocks/>
          </p:cNvCxnSpPr>
          <p:nvPr/>
        </p:nvCxnSpPr>
        <p:spPr>
          <a:xfrm>
            <a:off x="5805905" y="3270317"/>
            <a:ext cx="34250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7FB943-CF36-AAF9-4B72-05B88B8BCBF7}"/>
              </a:ext>
            </a:extLst>
          </p:cNvPr>
          <p:cNvCxnSpPr>
            <a:cxnSpLocks/>
          </p:cNvCxnSpPr>
          <p:nvPr/>
        </p:nvCxnSpPr>
        <p:spPr>
          <a:xfrm flipV="1">
            <a:off x="7178549" y="3253299"/>
            <a:ext cx="258997" cy="1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5F3201-BAA7-6F9F-2536-377FD9246BC4}"/>
              </a:ext>
            </a:extLst>
          </p:cNvPr>
          <p:cNvCxnSpPr>
            <a:cxnSpLocks/>
          </p:cNvCxnSpPr>
          <p:nvPr/>
        </p:nvCxnSpPr>
        <p:spPr>
          <a:xfrm flipH="1" flipV="1">
            <a:off x="6675544" y="2522612"/>
            <a:ext cx="1961" cy="41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458BCE-ECEA-EF2B-650A-F889F1F71D13}"/>
              </a:ext>
            </a:extLst>
          </p:cNvPr>
          <p:cNvCxnSpPr>
            <a:cxnSpLocks/>
          </p:cNvCxnSpPr>
          <p:nvPr/>
        </p:nvCxnSpPr>
        <p:spPr>
          <a:xfrm flipH="1" flipV="1">
            <a:off x="3126505" y="2496517"/>
            <a:ext cx="3577095" cy="22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27B069-2E09-65AA-47B8-22E47F0EFE31}"/>
              </a:ext>
            </a:extLst>
          </p:cNvPr>
          <p:cNvCxnSpPr>
            <a:cxnSpLocks/>
          </p:cNvCxnSpPr>
          <p:nvPr/>
        </p:nvCxnSpPr>
        <p:spPr>
          <a:xfrm flipH="1">
            <a:off x="3152599" y="2550070"/>
            <a:ext cx="7180" cy="1292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980D0A-DED7-B16E-397C-905BD11DF3C1}"/>
              </a:ext>
            </a:extLst>
          </p:cNvPr>
          <p:cNvCxnSpPr>
            <a:cxnSpLocks/>
          </p:cNvCxnSpPr>
          <p:nvPr/>
        </p:nvCxnSpPr>
        <p:spPr>
          <a:xfrm flipH="1">
            <a:off x="8637409" y="4880628"/>
            <a:ext cx="1961" cy="6956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A1E874-372A-4B48-2AA3-E370EA34CF98}"/>
              </a:ext>
            </a:extLst>
          </p:cNvPr>
          <p:cNvCxnSpPr>
            <a:cxnSpLocks/>
          </p:cNvCxnSpPr>
          <p:nvPr/>
        </p:nvCxnSpPr>
        <p:spPr>
          <a:xfrm flipH="1" flipV="1">
            <a:off x="4826788" y="5527457"/>
            <a:ext cx="3798871" cy="56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97B7AB-258E-7428-1804-17A638540EE5}"/>
              </a:ext>
            </a:extLst>
          </p:cNvPr>
          <p:cNvCxnSpPr>
            <a:cxnSpLocks/>
          </p:cNvCxnSpPr>
          <p:nvPr/>
        </p:nvCxnSpPr>
        <p:spPr>
          <a:xfrm flipV="1">
            <a:off x="4763390" y="4860959"/>
            <a:ext cx="9880" cy="66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096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C59B-C214-9F3B-4082-55B10DDF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0F06-1556-2E2D-2DAF-E4785BFC5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System Architecture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279E2-8685-387B-DFF9-12DF2BCF54AC}"/>
              </a:ext>
            </a:extLst>
          </p:cNvPr>
          <p:cNvSpPr txBox="1"/>
          <p:nvPr/>
        </p:nvSpPr>
        <p:spPr>
          <a:xfrm>
            <a:off x="2523434" y="3867954"/>
            <a:ext cx="1246448" cy="923330"/>
          </a:xfrm>
          <a:prstGeom prst="rect">
            <a:avLst/>
          </a:prstGeom>
          <a:solidFill>
            <a:srgbClr val="92D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Fetch</a:t>
            </a:r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FA0DAC-B09B-6717-7673-8FAC8FDC868F}"/>
              </a:ext>
            </a:extLst>
          </p:cNvPr>
          <p:cNvCxnSpPr>
            <a:cxnSpLocks/>
          </p:cNvCxnSpPr>
          <p:nvPr/>
        </p:nvCxnSpPr>
        <p:spPr>
          <a:xfrm>
            <a:off x="3770427" y="4355908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3C82CE-4CD2-D9B1-3F6C-C97FD7EC0A34}"/>
              </a:ext>
            </a:extLst>
          </p:cNvPr>
          <p:cNvSpPr txBox="1"/>
          <p:nvPr/>
        </p:nvSpPr>
        <p:spPr>
          <a:xfrm>
            <a:off x="4057871" y="3867953"/>
            <a:ext cx="1225571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Decode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5CC55-12D5-AB15-6FBB-14C9FE9F4E76}"/>
              </a:ext>
            </a:extLst>
          </p:cNvPr>
          <p:cNvSpPr txBox="1"/>
          <p:nvPr/>
        </p:nvSpPr>
        <p:spPr>
          <a:xfrm>
            <a:off x="3603802" y="2944159"/>
            <a:ext cx="677556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IF_ID</a:t>
            </a:r>
          </a:p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921120-72F3-DE92-077C-82DFBDBE2BB4}"/>
              </a:ext>
            </a:extLst>
          </p:cNvPr>
          <p:cNvCxnSpPr>
            <a:cxnSpLocks/>
          </p:cNvCxnSpPr>
          <p:nvPr/>
        </p:nvCxnSpPr>
        <p:spPr>
          <a:xfrm>
            <a:off x="3911344" y="3593909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9EB39A-66E1-CD5B-7C36-6D64AE66C1E6}"/>
              </a:ext>
            </a:extLst>
          </p:cNvPr>
          <p:cNvCxnSpPr>
            <a:cxnSpLocks/>
          </p:cNvCxnSpPr>
          <p:nvPr/>
        </p:nvCxnSpPr>
        <p:spPr>
          <a:xfrm>
            <a:off x="6134714" y="4303716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2CDDBE-97D8-939B-9C1A-5EEB0EF72C46}"/>
              </a:ext>
            </a:extLst>
          </p:cNvPr>
          <p:cNvSpPr txBox="1"/>
          <p:nvPr/>
        </p:nvSpPr>
        <p:spPr>
          <a:xfrm>
            <a:off x="5581870" y="3894047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Execute</a:t>
            </a:r>
          </a:p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3EB1DF-2EA1-6117-DEDD-769C4A31D258}"/>
              </a:ext>
            </a:extLst>
          </p:cNvPr>
          <p:cNvCxnSpPr>
            <a:cxnSpLocks/>
          </p:cNvCxnSpPr>
          <p:nvPr/>
        </p:nvCxnSpPr>
        <p:spPr>
          <a:xfrm>
            <a:off x="5283988" y="4382003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6318E3-BC21-7000-DA13-CB87F2337BA2}"/>
              </a:ext>
            </a:extLst>
          </p:cNvPr>
          <p:cNvCxnSpPr>
            <a:cxnSpLocks/>
          </p:cNvCxnSpPr>
          <p:nvPr/>
        </p:nvCxnSpPr>
        <p:spPr>
          <a:xfrm>
            <a:off x="5398809" y="359390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B7E8620-A0F1-CC93-8030-967251B23C88}"/>
              </a:ext>
            </a:extLst>
          </p:cNvPr>
          <p:cNvSpPr txBox="1"/>
          <p:nvPr/>
        </p:nvSpPr>
        <p:spPr>
          <a:xfrm>
            <a:off x="5059952" y="2944158"/>
            <a:ext cx="745405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ID_EX</a:t>
            </a:r>
          </a:p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DABB16-4ECB-229E-7029-ABA20D6BE816}"/>
              </a:ext>
            </a:extLst>
          </p:cNvPr>
          <p:cNvCxnSpPr>
            <a:cxnSpLocks/>
          </p:cNvCxnSpPr>
          <p:nvPr/>
        </p:nvCxnSpPr>
        <p:spPr>
          <a:xfrm>
            <a:off x="6562686" y="4382002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5921FDF-7C95-3BF7-9B19-A43FEFA51DF6}"/>
              </a:ext>
            </a:extLst>
          </p:cNvPr>
          <p:cNvSpPr txBox="1"/>
          <p:nvPr/>
        </p:nvSpPr>
        <p:spPr>
          <a:xfrm>
            <a:off x="6850129" y="3920142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Memory</a:t>
            </a:r>
          </a:p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01E7C7-F122-36F4-8FF3-DCC21FF4CE2B}"/>
              </a:ext>
            </a:extLst>
          </p:cNvPr>
          <p:cNvCxnSpPr>
            <a:cxnSpLocks/>
          </p:cNvCxnSpPr>
          <p:nvPr/>
        </p:nvCxnSpPr>
        <p:spPr>
          <a:xfrm>
            <a:off x="6703603" y="3614784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253D31-DAED-A479-AD84-EBAD7925936A}"/>
              </a:ext>
            </a:extLst>
          </p:cNvPr>
          <p:cNvSpPr txBox="1"/>
          <p:nvPr/>
        </p:nvSpPr>
        <p:spPr>
          <a:xfrm>
            <a:off x="6166419" y="2944157"/>
            <a:ext cx="101680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EX_MEM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53D308-63BF-2E87-12EB-939034761495}"/>
              </a:ext>
            </a:extLst>
          </p:cNvPr>
          <p:cNvSpPr txBox="1"/>
          <p:nvPr/>
        </p:nvSpPr>
        <p:spPr>
          <a:xfrm>
            <a:off x="8118389" y="3956675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Write Back</a:t>
            </a:r>
          </a:p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B4E9AD-C9A8-0C00-586E-A716628DCD9B}"/>
              </a:ext>
            </a:extLst>
          </p:cNvPr>
          <p:cNvCxnSpPr>
            <a:cxnSpLocks/>
          </p:cNvCxnSpPr>
          <p:nvPr/>
        </p:nvCxnSpPr>
        <p:spPr>
          <a:xfrm>
            <a:off x="7830945" y="4382001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888163-7492-761C-E9D1-6111A2442E39}"/>
              </a:ext>
            </a:extLst>
          </p:cNvPr>
          <p:cNvCxnSpPr>
            <a:cxnSpLocks/>
          </p:cNvCxnSpPr>
          <p:nvPr/>
        </p:nvCxnSpPr>
        <p:spPr>
          <a:xfrm>
            <a:off x="7971862" y="364609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E947FB5-7A15-8610-BAE7-E5F90BD09228}"/>
              </a:ext>
            </a:extLst>
          </p:cNvPr>
          <p:cNvSpPr txBox="1"/>
          <p:nvPr/>
        </p:nvSpPr>
        <p:spPr>
          <a:xfrm>
            <a:off x="7434679" y="2944157"/>
            <a:ext cx="113684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MEM_WB</a:t>
            </a:r>
          </a:p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F15BCD-127B-2D6B-54DA-982193F4B922}"/>
              </a:ext>
            </a:extLst>
          </p:cNvPr>
          <p:cNvCxnSpPr>
            <a:cxnSpLocks/>
          </p:cNvCxnSpPr>
          <p:nvPr/>
        </p:nvCxnSpPr>
        <p:spPr>
          <a:xfrm>
            <a:off x="4281906" y="3265099"/>
            <a:ext cx="770476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6AA7B5-D990-3297-3FC6-03BF9FDD1D3A}"/>
              </a:ext>
            </a:extLst>
          </p:cNvPr>
          <p:cNvCxnSpPr>
            <a:cxnSpLocks/>
          </p:cNvCxnSpPr>
          <p:nvPr/>
        </p:nvCxnSpPr>
        <p:spPr>
          <a:xfrm>
            <a:off x="5805905" y="3270317"/>
            <a:ext cx="34250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7D40EE-B9FB-92CE-75A9-FEC95DF9C68F}"/>
              </a:ext>
            </a:extLst>
          </p:cNvPr>
          <p:cNvCxnSpPr>
            <a:cxnSpLocks/>
          </p:cNvCxnSpPr>
          <p:nvPr/>
        </p:nvCxnSpPr>
        <p:spPr>
          <a:xfrm flipV="1">
            <a:off x="7178549" y="3253299"/>
            <a:ext cx="258997" cy="1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53FC6F-1DD9-E4E1-1940-6F8B97038AEE}"/>
              </a:ext>
            </a:extLst>
          </p:cNvPr>
          <p:cNvCxnSpPr>
            <a:cxnSpLocks/>
          </p:cNvCxnSpPr>
          <p:nvPr/>
        </p:nvCxnSpPr>
        <p:spPr>
          <a:xfrm flipH="1" flipV="1">
            <a:off x="6675544" y="2522612"/>
            <a:ext cx="1961" cy="41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F1D327-9FB8-E8A9-9BB8-D2A26B94CE79}"/>
              </a:ext>
            </a:extLst>
          </p:cNvPr>
          <p:cNvCxnSpPr>
            <a:cxnSpLocks/>
          </p:cNvCxnSpPr>
          <p:nvPr/>
        </p:nvCxnSpPr>
        <p:spPr>
          <a:xfrm flipH="1" flipV="1">
            <a:off x="3126505" y="2496517"/>
            <a:ext cx="3577095" cy="22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83F6A6-10A8-C232-7321-25E56474EF68}"/>
              </a:ext>
            </a:extLst>
          </p:cNvPr>
          <p:cNvCxnSpPr>
            <a:cxnSpLocks/>
          </p:cNvCxnSpPr>
          <p:nvPr/>
        </p:nvCxnSpPr>
        <p:spPr>
          <a:xfrm flipH="1">
            <a:off x="3152599" y="2550070"/>
            <a:ext cx="7180" cy="1292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8B9706-7CF8-1E0A-FFCD-452BAB300597}"/>
              </a:ext>
            </a:extLst>
          </p:cNvPr>
          <p:cNvCxnSpPr>
            <a:cxnSpLocks/>
          </p:cNvCxnSpPr>
          <p:nvPr/>
        </p:nvCxnSpPr>
        <p:spPr>
          <a:xfrm flipH="1">
            <a:off x="8637409" y="4880628"/>
            <a:ext cx="1961" cy="6956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18AD3C-CF3B-4EED-9AED-038F8F111704}"/>
              </a:ext>
            </a:extLst>
          </p:cNvPr>
          <p:cNvCxnSpPr>
            <a:cxnSpLocks/>
          </p:cNvCxnSpPr>
          <p:nvPr/>
        </p:nvCxnSpPr>
        <p:spPr>
          <a:xfrm flipH="1" flipV="1">
            <a:off x="4826788" y="5527457"/>
            <a:ext cx="3798871" cy="56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24BF22-DAF5-AF4E-1C01-1AF33BDE0371}"/>
              </a:ext>
            </a:extLst>
          </p:cNvPr>
          <p:cNvCxnSpPr>
            <a:cxnSpLocks/>
          </p:cNvCxnSpPr>
          <p:nvPr/>
        </p:nvCxnSpPr>
        <p:spPr>
          <a:xfrm flipV="1">
            <a:off x="4763390" y="4860959"/>
            <a:ext cx="9880" cy="66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413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B0D4-C276-BACA-9087-15943081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Instruction Fetch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388B8-13A3-6D62-96E9-1DFF88814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2000"/>
              <a:t>Check To see if PC I less than the length of the program</a:t>
            </a:r>
          </a:p>
          <a:p>
            <a:pPr marL="342900" indent="-342900">
              <a:buAutoNum type="arabicPeriod"/>
            </a:pPr>
            <a:r>
              <a:rPr lang="en-US" sz="2000"/>
              <a:t>Load instruction from instruction memory</a:t>
            </a:r>
          </a:p>
          <a:p>
            <a:pPr marL="342900" indent="-342900">
              <a:buAutoNum type="arabicPeriod"/>
            </a:pPr>
            <a:r>
              <a:rPr lang="en-US" sz="2000"/>
              <a:t>Propagate data to IF_ID</a:t>
            </a:r>
          </a:p>
          <a:p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7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EA1A-9366-04A0-73F5-22178CE5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D0AD-795A-1416-52BE-41A3F066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System Architecture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2CD31-58AB-CDF2-A7A2-D271815D64A5}"/>
              </a:ext>
            </a:extLst>
          </p:cNvPr>
          <p:cNvSpPr txBox="1"/>
          <p:nvPr/>
        </p:nvSpPr>
        <p:spPr>
          <a:xfrm>
            <a:off x="2523434" y="3867954"/>
            <a:ext cx="1246448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Fetch</a:t>
            </a:r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43C762-A506-FBC3-36E6-48A484AF0190}"/>
              </a:ext>
            </a:extLst>
          </p:cNvPr>
          <p:cNvCxnSpPr>
            <a:cxnSpLocks/>
          </p:cNvCxnSpPr>
          <p:nvPr/>
        </p:nvCxnSpPr>
        <p:spPr>
          <a:xfrm>
            <a:off x="3770427" y="4355908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AABCC1-AF75-ED18-8F1A-FB92967B5419}"/>
              </a:ext>
            </a:extLst>
          </p:cNvPr>
          <p:cNvSpPr txBox="1"/>
          <p:nvPr/>
        </p:nvSpPr>
        <p:spPr>
          <a:xfrm>
            <a:off x="4057871" y="3867953"/>
            <a:ext cx="1225571" cy="923330"/>
          </a:xfrm>
          <a:prstGeom prst="rect">
            <a:avLst/>
          </a:prstGeom>
          <a:solidFill>
            <a:srgbClr val="92D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Decode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E9F5E4-B421-0D56-1C41-4166EB460DDC}"/>
              </a:ext>
            </a:extLst>
          </p:cNvPr>
          <p:cNvSpPr txBox="1"/>
          <p:nvPr/>
        </p:nvSpPr>
        <p:spPr>
          <a:xfrm>
            <a:off x="3603802" y="2944159"/>
            <a:ext cx="677556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IF_ID</a:t>
            </a:r>
          </a:p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9097D2-26AC-8F52-01C9-D83560C5C8B6}"/>
              </a:ext>
            </a:extLst>
          </p:cNvPr>
          <p:cNvCxnSpPr>
            <a:cxnSpLocks/>
          </p:cNvCxnSpPr>
          <p:nvPr/>
        </p:nvCxnSpPr>
        <p:spPr>
          <a:xfrm>
            <a:off x="3911344" y="3593909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0DEFAF-5D0E-888C-F1FB-5339EE1E2909}"/>
              </a:ext>
            </a:extLst>
          </p:cNvPr>
          <p:cNvCxnSpPr>
            <a:cxnSpLocks/>
          </p:cNvCxnSpPr>
          <p:nvPr/>
        </p:nvCxnSpPr>
        <p:spPr>
          <a:xfrm>
            <a:off x="6134714" y="4303716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21B42B-D0F7-EC48-5C4B-D233EB2109FC}"/>
              </a:ext>
            </a:extLst>
          </p:cNvPr>
          <p:cNvSpPr txBox="1"/>
          <p:nvPr/>
        </p:nvSpPr>
        <p:spPr>
          <a:xfrm>
            <a:off x="5581870" y="3894047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Execute</a:t>
            </a:r>
          </a:p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2EFE7A-F759-8410-8E90-9753095138DA}"/>
              </a:ext>
            </a:extLst>
          </p:cNvPr>
          <p:cNvCxnSpPr>
            <a:cxnSpLocks/>
          </p:cNvCxnSpPr>
          <p:nvPr/>
        </p:nvCxnSpPr>
        <p:spPr>
          <a:xfrm>
            <a:off x="5283988" y="4382003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7E12D0-81D6-4D2D-3F41-E0E7E6A07DB8}"/>
              </a:ext>
            </a:extLst>
          </p:cNvPr>
          <p:cNvCxnSpPr>
            <a:cxnSpLocks/>
          </p:cNvCxnSpPr>
          <p:nvPr/>
        </p:nvCxnSpPr>
        <p:spPr>
          <a:xfrm>
            <a:off x="5398809" y="359390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80222F-1259-5FA8-831A-2DDBE4D67551}"/>
              </a:ext>
            </a:extLst>
          </p:cNvPr>
          <p:cNvSpPr txBox="1"/>
          <p:nvPr/>
        </p:nvSpPr>
        <p:spPr>
          <a:xfrm>
            <a:off x="5059952" y="2944158"/>
            <a:ext cx="745405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ID_EX</a:t>
            </a:r>
          </a:p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8AE2C3-04BE-6386-0303-3177F5A36CF3}"/>
              </a:ext>
            </a:extLst>
          </p:cNvPr>
          <p:cNvCxnSpPr>
            <a:cxnSpLocks/>
          </p:cNvCxnSpPr>
          <p:nvPr/>
        </p:nvCxnSpPr>
        <p:spPr>
          <a:xfrm>
            <a:off x="6562686" y="4382002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637DF0C-2048-F6B4-092F-958FB38074F5}"/>
              </a:ext>
            </a:extLst>
          </p:cNvPr>
          <p:cNvSpPr txBox="1"/>
          <p:nvPr/>
        </p:nvSpPr>
        <p:spPr>
          <a:xfrm>
            <a:off x="6850129" y="3920142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Memory</a:t>
            </a:r>
          </a:p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C1A4FD-AB3A-3938-207C-DAE0C7D55E8B}"/>
              </a:ext>
            </a:extLst>
          </p:cNvPr>
          <p:cNvCxnSpPr>
            <a:cxnSpLocks/>
          </p:cNvCxnSpPr>
          <p:nvPr/>
        </p:nvCxnSpPr>
        <p:spPr>
          <a:xfrm>
            <a:off x="6703603" y="3614784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6025EE-1213-6973-19D0-CE7765906C35}"/>
              </a:ext>
            </a:extLst>
          </p:cNvPr>
          <p:cNvSpPr txBox="1"/>
          <p:nvPr/>
        </p:nvSpPr>
        <p:spPr>
          <a:xfrm>
            <a:off x="6166419" y="2944157"/>
            <a:ext cx="101680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EX_MEM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42916-C566-1876-AA81-38EE16163822}"/>
              </a:ext>
            </a:extLst>
          </p:cNvPr>
          <p:cNvSpPr txBox="1"/>
          <p:nvPr/>
        </p:nvSpPr>
        <p:spPr>
          <a:xfrm>
            <a:off x="8118389" y="3956675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Write Back</a:t>
            </a:r>
          </a:p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E9D46B8-B421-FB35-FBCF-F0D8BC127FF1}"/>
              </a:ext>
            </a:extLst>
          </p:cNvPr>
          <p:cNvCxnSpPr>
            <a:cxnSpLocks/>
          </p:cNvCxnSpPr>
          <p:nvPr/>
        </p:nvCxnSpPr>
        <p:spPr>
          <a:xfrm>
            <a:off x="7830945" y="4382001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DFBE44-3859-C2A6-A6C9-617A51A8E506}"/>
              </a:ext>
            </a:extLst>
          </p:cNvPr>
          <p:cNvCxnSpPr>
            <a:cxnSpLocks/>
          </p:cNvCxnSpPr>
          <p:nvPr/>
        </p:nvCxnSpPr>
        <p:spPr>
          <a:xfrm>
            <a:off x="7971862" y="364609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03E49F-9159-8030-476F-10E4FD3D45C0}"/>
              </a:ext>
            </a:extLst>
          </p:cNvPr>
          <p:cNvSpPr txBox="1"/>
          <p:nvPr/>
        </p:nvSpPr>
        <p:spPr>
          <a:xfrm>
            <a:off x="7434679" y="2944157"/>
            <a:ext cx="113684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MEM_WB</a:t>
            </a:r>
          </a:p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578EFF-4F13-67ED-5499-2205E0E25BAC}"/>
              </a:ext>
            </a:extLst>
          </p:cNvPr>
          <p:cNvCxnSpPr>
            <a:cxnSpLocks/>
          </p:cNvCxnSpPr>
          <p:nvPr/>
        </p:nvCxnSpPr>
        <p:spPr>
          <a:xfrm>
            <a:off x="4281906" y="3265099"/>
            <a:ext cx="770476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7A4A5D1-60F3-5DED-A055-3DE44EBD48EB}"/>
              </a:ext>
            </a:extLst>
          </p:cNvPr>
          <p:cNvCxnSpPr>
            <a:cxnSpLocks/>
          </p:cNvCxnSpPr>
          <p:nvPr/>
        </p:nvCxnSpPr>
        <p:spPr>
          <a:xfrm>
            <a:off x="5805905" y="3270317"/>
            <a:ext cx="34250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EDA9CB-F62D-15F9-4ACE-0ED1A7C0C1D2}"/>
              </a:ext>
            </a:extLst>
          </p:cNvPr>
          <p:cNvCxnSpPr>
            <a:cxnSpLocks/>
          </p:cNvCxnSpPr>
          <p:nvPr/>
        </p:nvCxnSpPr>
        <p:spPr>
          <a:xfrm flipV="1">
            <a:off x="7178549" y="3253299"/>
            <a:ext cx="258997" cy="1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AF7C93-9124-9F0C-8E6B-55F3B9A6C5AE}"/>
              </a:ext>
            </a:extLst>
          </p:cNvPr>
          <p:cNvCxnSpPr>
            <a:cxnSpLocks/>
          </p:cNvCxnSpPr>
          <p:nvPr/>
        </p:nvCxnSpPr>
        <p:spPr>
          <a:xfrm flipH="1" flipV="1">
            <a:off x="6675544" y="2522612"/>
            <a:ext cx="1961" cy="41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BDC0AA-2D07-9C57-5227-84BD74EEF04E}"/>
              </a:ext>
            </a:extLst>
          </p:cNvPr>
          <p:cNvCxnSpPr>
            <a:cxnSpLocks/>
          </p:cNvCxnSpPr>
          <p:nvPr/>
        </p:nvCxnSpPr>
        <p:spPr>
          <a:xfrm flipH="1" flipV="1">
            <a:off x="3126505" y="2496517"/>
            <a:ext cx="3577095" cy="22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1D9EC1-1E39-C285-158E-B680BD6789CF}"/>
              </a:ext>
            </a:extLst>
          </p:cNvPr>
          <p:cNvCxnSpPr>
            <a:cxnSpLocks/>
          </p:cNvCxnSpPr>
          <p:nvPr/>
        </p:nvCxnSpPr>
        <p:spPr>
          <a:xfrm flipH="1">
            <a:off x="3152599" y="2550070"/>
            <a:ext cx="7180" cy="1292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980B8AB-C046-C5F5-51C2-85EA02F535EF}"/>
              </a:ext>
            </a:extLst>
          </p:cNvPr>
          <p:cNvCxnSpPr>
            <a:cxnSpLocks/>
          </p:cNvCxnSpPr>
          <p:nvPr/>
        </p:nvCxnSpPr>
        <p:spPr>
          <a:xfrm flipH="1">
            <a:off x="8637409" y="4880628"/>
            <a:ext cx="1961" cy="6956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A8489C-F84D-26F0-4905-9EC82E543FE3}"/>
              </a:ext>
            </a:extLst>
          </p:cNvPr>
          <p:cNvCxnSpPr>
            <a:cxnSpLocks/>
          </p:cNvCxnSpPr>
          <p:nvPr/>
        </p:nvCxnSpPr>
        <p:spPr>
          <a:xfrm flipH="1" flipV="1">
            <a:off x="4826788" y="5527457"/>
            <a:ext cx="3798871" cy="56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FAC94F-17B8-7931-4B5E-E37D1C22BD14}"/>
              </a:ext>
            </a:extLst>
          </p:cNvPr>
          <p:cNvCxnSpPr>
            <a:cxnSpLocks/>
          </p:cNvCxnSpPr>
          <p:nvPr/>
        </p:nvCxnSpPr>
        <p:spPr>
          <a:xfrm flipV="1">
            <a:off x="4763390" y="4860959"/>
            <a:ext cx="9880" cy="66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99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DAB8-A575-A9A9-1845-05FE9322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0389-ED00-298F-F639-36D5FBFF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Instruction Decode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D1F6F-4A5C-0914-BC7D-69EBB1D36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2000"/>
              <a:t>Check if IF_ID is valid</a:t>
            </a:r>
          </a:p>
          <a:p>
            <a:pPr marL="342900" indent="-342900">
              <a:buAutoNum type="arabicPeriod"/>
            </a:pPr>
            <a:r>
              <a:rPr lang="en-US" sz="2000"/>
              <a:t>Parse instruction into </a:t>
            </a:r>
            <a:r>
              <a:rPr lang="en-US" sz="2000" err="1"/>
              <a:t>rs</a:t>
            </a:r>
            <a:r>
              <a:rPr lang="en-US" sz="2000"/>
              <a:t>, rt, and </a:t>
            </a:r>
            <a:r>
              <a:rPr lang="en-US" sz="2000" err="1"/>
              <a:t>imm</a:t>
            </a:r>
            <a:r>
              <a:rPr lang="en-US" sz="2000"/>
              <a:t> </a:t>
            </a:r>
          </a:p>
          <a:p>
            <a:pPr marL="342900" indent="-342900">
              <a:buAutoNum type="arabicPeriod"/>
            </a:pPr>
            <a:r>
              <a:rPr lang="en-US" sz="2000"/>
              <a:t>Generate signals for the control unit</a:t>
            </a:r>
          </a:p>
          <a:p>
            <a:pPr marL="342900" indent="-342900">
              <a:buAutoNum type="arabicPeriod"/>
            </a:pPr>
            <a:r>
              <a:rPr lang="en-US" sz="2000"/>
              <a:t>Propagate data to ID_EX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97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A547-E8E6-2B86-B328-192F6CE3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Control Unit  Signal Truth Table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F7408F-328E-A765-D415-3FA07EC75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6717FD0-5B4F-C69D-C226-877284231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760161"/>
              </p:ext>
            </p:extLst>
          </p:nvPr>
        </p:nvGraphicFramePr>
        <p:xfrm>
          <a:off x="468313" y="1400175"/>
          <a:ext cx="11266688" cy="43118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1854">
                  <a:extLst>
                    <a:ext uri="{9D8B030D-6E8A-4147-A177-3AD203B41FA5}">
                      <a16:colId xmlns:a16="http://schemas.microsoft.com/office/drawing/2014/main" val="3851318481"/>
                    </a:ext>
                  </a:extLst>
                </a:gridCol>
                <a:gridCol w="1251854">
                  <a:extLst>
                    <a:ext uri="{9D8B030D-6E8A-4147-A177-3AD203B41FA5}">
                      <a16:colId xmlns:a16="http://schemas.microsoft.com/office/drawing/2014/main" val="894798698"/>
                    </a:ext>
                  </a:extLst>
                </a:gridCol>
                <a:gridCol w="1251854">
                  <a:extLst>
                    <a:ext uri="{9D8B030D-6E8A-4147-A177-3AD203B41FA5}">
                      <a16:colId xmlns:a16="http://schemas.microsoft.com/office/drawing/2014/main" val="815684344"/>
                    </a:ext>
                  </a:extLst>
                </a:gridCol>
                <a:gridCol w="1472045">
                  <a:extLst>
                    <a:ext uri="{9D8B030D-6E8A-4147-A177-3AD203B41FA5}">
                      <a16:colId xmlns:a16="http://schemas.microsoft.com/office/drawing/2014/main" val="514018537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1708895412"/>
                    </a:ext>
                  </a:extLst>
                </a:gridCol>
                <a:gridCol w="1316180">
                  <a:extLst>
                    <a:ext uri="{9D8B030D-6E8A-4147-A177-3AD203B41FA5}">
                      <a16:colId xmlns:a16="http://schemas.microsoft.com/office/drawing/2014/main" val="3390865742"/>
                    </a:ext>
                  </a:extLst>
                </a:gridCol>
                <a:gridCol w="1281545">
                  <a:extLst>
                    <a:ext uri="{9D8B030D-6E8A-4147-A177-3AD203B41FA5}">
                      <a16:colId xmlns:a16="http://schemas.microsoft.com/office/drawing/2014/main" val="889310085"/>
                    </a:ext>
                  </a:extLst>
                </a:gridCol>
                <a:gridCol w="1011866">
                  <a:extLst>
                    <a:ext uri="{9D8B030D-6E8A-4147-A177-3AD203B41FA5}">
                      <a16:colId xmlns:a16="http://schemas.microsoft.com/office/drawing/2014/main" val="2030751196"/>
                    </a:ext>
                  </a:extLst>
                </a:gridCol>
                <a:gridCol w="1251854">
                  <a:extLst>
                    <a:ext uri="{9D8B030D-6E8A-4147-A177-3AD203B41FA5}">
                      <a16:colId xmlns:a16="http://schemas.microsoft.com/office/drawing/2014/main" val="63328139"/>
                    </a:ext>
                  </a:extLst>
                </a:gridCol>
              </a:tblGrid>
              <a:tr h="7596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 Light"/>
                        </a:rPr>
                        <a:t>Opcode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Aptos Light"/>
                        </a:rPr>
                        <a:t>reg_dst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Aptos Light"/>
                        </a:rPr>
                        <a:t>alu_src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Aptos Light"/>
                        </a:rPr>
                        <a:t>mem_to_reg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Aptos Light"/>
                        </a:rPr>
                        <a:t>reg_write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Aptos Light"/>
                        </a:rPr>
                        <a:t>mem_read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Aptos Light"/>
                        </a:rPr>
                        <a:t>mem_write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 Light"/>
                        </a:rPr>
                        <a:t>branch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 Light"/>
                        </a:rPr>
                        <a:t>jump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215879"/>
                  </a:ext>
                </a:extLst>
              </a:tr>
              <a:tr h="4853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2A0053"/>
                          </a:solidFill>
                          <a:latin typeface="Aptos Light"/>
                        </a:rPr>
                        <a:t>R-type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38009"/>
                  </a:ext>
                </a:extLst>
              </a:tr>
              <a:tr h="485354">
                <a:tc>
                  <a:txBody>
                    <a:bodyPr/>
                    <a:lstStyle/>
                    <a:p>
                      <a:r>
                        <a:rPr lang="en-US"/>
                        <a:t>ADDI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946573"/>
                  </a:ext>
                </a:extLst>
              </a:tr>
              <a:tr h="485354">
                <a:tc>
                  <a:txBody>
                    <a:bodyPr/>
                    <a:lstStyle/>
                    <a:p>
                      <a:r>
                        <a:rPr lang="en-US"/>
                        <a:t>LW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529316"/>
                  </a:ext>
                </a:extLst>
              </a:tr>
              <a:tr h="485354">
                <a:tc>
                  <a:txBody>
                    <a:bodyPr/>
                    <a:lstStyle/>
                    <a:p>
                      <a:r>
                        <a:rPr lang="en-US"/>
                        <a:t>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077850"/>
                  </a:ext>
                </a:extLst>
              </a:tr>
              <a:tr h="485354">
                <a:tc>
                  <a:txBody>
                    <a:bodyPr/>
                    <a:lstStyle/>
                    <a:p>
                      <a:r>
                        <a:rPr lang="en-US"/>
                        <a:t>BEQ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536960"/>
                  </a:ext>
                </a:extLst>
              </a:tr>
              <a:tr h="485354">
                <a:tc>
                  <a:txBody>
                    <a:bodyPr/>
                    <a:lstStyle/>
                    <a:p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616420"/>
                  </a:ext>
                </a:extLst>
              </a:tr>
              <a:tr h="485354">
                <a:tc>
                  <a:txBody>
                    <a:bodyPr/>
                    <a:lstStyle/>
                    <a:p>
                      <a:r>
                        <a:rPr lang="en-US"/>
                        <a:t>NOP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504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22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CC041-DC86-2F95-1EFF-698D80C76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935A-30CF-575D-D9CA-FC718F60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System Architecture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7937C-0824-6EEB-E723-FEB66C1D2078}"/>
              </a:ext>
            </a:extLst>
          </p:cNvPr>
          <p:cNvSpPr txBox="1"/>
          <p:nvPr/>
        </p:nvSpPr>
        <p:spPr>
          <a:xfrm>
            <a:off x="2523434" y="3867954"/>
            <a:ext cx="1246448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Fetch</a:t>
            </a:r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10C429-6645-2A4E-A299-FF74FFD9798E}"/>
              </a:ext>
            </a:extLst>
          </p:cNvPr>
          <p:cNvCxnSpPr>
            <a:cxnSpLocks/>
          </p:cNvCxnSpPr>
          <p:nvPr/>
        </p:nvCxnSpPr>
        <p:spPr>
          <a:xfrm>
            <a:off x="3770427" y="4355908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38D181-B74E-3006-E338-4B3636108B61}"/>
              </a:ext>
            </a:extLst>
          </p:cNvPr>
          <p:cNvSpPr txBox="1"/>
          <p:nvPr/>
        </p:nvSpPr>
        <p:spPr>
          <a:xfrm>
            <a:off x="4057871" y="3867953"/>
            <a:ext cx="1225571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Decode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DCDDB-B8FC-1337-4400-E360D9AE8BD7}"/>
              </a:ext>
            </a:extLst>
          </p:cNvPr>
          <p:cNvSpPr txBox="1"/>
          <p:nvPr/>
        </p:nvSpPr>
        <p:spPr>
          <a:xfrm>
            <a:off x="3603802" y="2944159"/>
            <a:ext cx="677556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IF_ID</a:t>
            </a:r>
          </a:p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CCCF34-3CFE-8397-7902-D8D1405D6306}"/>
              </a:ext>
            </a:extLst>
          </p:cNvPr>
          <p:cNvCxnSpPr>
            <a:cxnSpLocks/>
          </p:cNvCxnSpPr>
          <p:nvPr/>
        </p:nvCxnSpPr>
        <p:spPr>
          <a:xfrm>
            <a:off x="3911344" y="3593909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BA701C-55F1-0CB4-B330-93A417DF77EF}"/>
              </a:ext>
            </a:extLst>
          </p:cNvPr>
          <p:cNvCxnSpPr>
            <a:cxnSpLocks/>
          </p:cNvCxnSpPr>
          <p:nvPr/>
        </p:nvCxnSpPr>
        <p:spPr>
          <a:xfrm>
            <a:off x="6134714" y="4303716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549E9EC-3947-3493-CAA5-4A0A8AF12C9B}"/>
              </a:ext>
            </a:extLst>
          </p:cNvPr>
          <p:cNvSpPr txBox="1"/>
          <p:nvPr/>
        </p:nvSpPr>
        <p:spPr>
          <a:xfrm>
            <a:off x="5581870" y="3894047"/>
            <a:ext cx="980269" cy="923330"/>
          </a:xfrm>
          <a:prstGeom prst="rect">
            <a:avLst/>
          </a:prstGeom>
          <a:solidFill>
            <a:srgbClr val="92D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Execute</a:t>
            </a:r>
          </a:p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24A55B-A267-0339-F713-88FC98B40CBE}"/>
              </a:ext>
            </a:extLst>
          </p:cNvPr>
          <p:cNvCxnSpPr>
            <a:cxnSpLocks/>
          </p:cNvCxnSpPr>
          <p:nvPr/>
        </p:nvCxnSpPr>
        <p:spPr>
          <a:xfrm>
            <a:off x="5283988" y="4382003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BCD4EC-0BE3-7150-5939-B142E103CAD4}"/>
              </a:ext>
            </a:extLst>
          </p:cNvPr>
          <p:cNvCxnSpPr>
            <a:cxnSpLocks/>
          </p:cNvCxnSpPr>
          <p:nvPr/>
        </p:nvCxnSpPr>
        <p:spPr>
          <a:xfrm>
            <a:off x="5398809" y="359390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8D64D5-CB8A-EFEE-3A8E-AE6863D7C3AB}"/>
              </a:ext>
            </a:extLst>
          </p:cNvPr>
          <p:cNvSpPr txBox="1"/>
          <p:nvPr/>
        </p:nvSpPr>
        <p:spPr>
          <a:xfrm>
            <a:off x="5059952" y="2944158"/>
            <a:ext cx="745405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ID_EX</a:t>
            </a:r>
          </a:p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30DB4F-99E2-608C-FD79-326556BE47A9}"/>
              </a:ext>
            </a:extLst>
          </p:cNvPr>
          <p:cNvCxnSpPr>
            <a:cxnSpLocks/>
          </p:cNvCxnSpPr>
          <p:nvPr/>
        </p:nvCxnSpPr>
        <p:spPr>
          <a:xfrm>
            <a:off x="6562686" y="4382002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A4812B-066D-6F10-D25E-117067A17B9D}"/>
              </a:ext>
            </a:extLst>
          </p:cNvPr>
          <p:cNvSpPr txBox="1"/>
          <p:nvPr/>
        </p:nvSpPr>
        <p:spPr>
          <a:xfrm>
            <a:off x="6850129" y="3920142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Memory</a:t>
            </a:r>
          </a:p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88D7C6-E11C-4E99-BD18-DDE0946CF9EC}"/>
              </a:ext>
            </a:extLst>
          </p:cNvPr>
          <p:cNvCxnSpPr>
            <a:cxnSpLocks/>
          </p:cNvCxnSpPr>
          <p:nvPr/>
        </p:nvCxnSpPr>
        <p:spPr>
          <a:xfrm>
            <a:off x="6703603" y="3614784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5463EA-AC24-6BE1-1E41-22EDC77F6094}"/>
              </a:ext>
            </a:extLst>
          </p:cNvPr>
          <p:cNvSpPr txBox="1"/>
          <p:nvPr/>
        </p:nvSpPr>
        <p:spPr>
          <a:xfrm>
            <a:off x="6166419" y="2944157"/>
            <a:ext cx="101680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EX_MEM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CB07E-A588-D047-2201-D034323BC80B}"/>
              </a:ext>
            </a:extLst>
          </p:cNvPr>
          <p:cNvSpPr txBox="1"/>
          <p:nvPr/>
        </p:nvSpPr>
        <p:spPr>
          <a:xfrm>
            <a:off x="8118389" y="3956675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Write Back</a:t>
            </a:r>
          </a:p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73EE89-DDC9-C8EA-B826-BE6F957EEDC1}"/>
              </a:ext>
            </a:extLst>
          </p:cNvPr>
          <p:cNvCxnSpPr>
            <a:cxnSpLocks/>
          </p:cNvCxnSpPr>
          <p:nvPr/>
        </p:nvCxnSpPr>
        <p:spPr>
          <a:xfrm>
            <a:off x="7830945" y="4382001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8392A8-6C4A-AC03-9B61-EAAE6801B794}"/>
              </a:ext>
            </a:extLst>
          </p:cNvPr>
          <p:cNvCxnSpPr>
            <a:cxnSpLocks/>
          </p:cNvCxnSpPr>
          <p:nvPr/>
        </p:nvCxnSpPr>
        <p:spPr>
          <a:xfrm>
            <a:off x="7971862" y="364609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7F6F20B-6D50-FC44-25AF-F3A744F50E80}"/>
              </a:ext>
            </a:extLst>
          </p:cNvPr>
          <p:cNvSpPr txBox="1"/>
          <p:nvPr/>
        </p:nvSpPr>
        <p:spPr>
          <a:xfrm>
            <a:off x="7434679" y="2944157"/>
            <a:ext cx="113684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MEM_WB</a:t>
            </a:r>
          </a:p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736E1F-26CA-F3DA-CB49-A4C5BB53BEB2}"/>
              </a:ext>
            </a:extLst>
          </p:cNvPr>
          <p:cNvCxnSpPr>
            <a:cxnSpLocks/>
          </p:cNvCxnSpPr>
          <p:nvPr/>
        </p:nvCxnSpPr>
        <p:spPr>
          <a:xfrm>
            <a:off x="4281906" y="3265099"/>
            <a:ext cx="770476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CE9479-0D3D-E3EF-02B9-BE014572251E}"/>
              </a:ext>
            </a:extLst>
          </p:cNvPr>
          <p:cNvCxnSpPr>
            <a:cxnSpLocks/>
          </p:cNvCxnSpPr>
          <p:nvPr/>
        </p:nvCxnSpPr>
        <p:spPr>
          <a:xfrm>
            <a:off x="5805905" y="3270317"/>
            <a:ext cx="34250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3F6BCD-F1A9-00B3-D686-4D32A46776E7}"/>
              </a:ext>
            </a:extLst>
          </p:cNvPr>
          <p:cNvCxnSpPr>
            <a:cxnSpLocks/>
          </p:cNvCxnSpPr>
          <p:nvPr/>
        </p:nvCxnSpPr>
        <p:spPr>
          <a:xfrm flipV="1">
            <a:off x="7178549" y="3253299"/>
            <a:ext cx="258997" cy="1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12D211-0C8C-17A5-8708-0AD843AB88A7}"/>
              </a:ext>
            </a:extLst>
          </p:cNvPr>
          <p:cNvCxnSpPr>
            <a:cxnSpLocks/>
          </p:cNvCxnSpPr>
          <p:nvPr/>
        </p:nvCxnSpPr>
        <p:spPr>
          <a:xfrm flipH="1" flipV="1">
            <a:off x="6675544" y="2522612"/>
            <a:ext cx="1961" cy="41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C36F7F-4BFA-71D3-02E8-22B5CE45FF2D}"/>
              </a:ext>
            </a:extLst>
          </p:cNvPr>
          <p:cNvCxnSpPr>
            <a:cxnSpLocks/>
          </p:cNvCxnSpPr>
          <p:nvPr/>
        </p:nvCxnSpPr>
        <p:spPr>
          <a:xfrm flipH="1" flipV="1">
            <a:off x="3126505" y="2496517"/>
            <a:ext cx="3577095" cy="22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E737D7-E2FB-3CAF-C4B8-DFB1CD2FDE72}"/>
              </a:ext>
            </a:extLst>
          </p:cNvPr>
          <p:cNvCxnSpPr>
            <a:cxnSpLocks/>
          </p:cNvCxnSpPr>
          <p:nvPr/>
        </p:nvCxnSpPr>
        <p:spPr>
          <a:xfrm flipH="1">
            <a:off x="3152599" y="2550070"/>
            <a:ext cx="7180" cy="1292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4BB999-0953-6FEB-4F8C-E8516E99139A}"/>
              </a:ext>
            </a:extLst>
          </p:cNvPr>
          <p:cNvCxnSpPr>
            <a:cxnSpLocks/>
          </p:cNvCxnSpPr>
          <p:nvPr/>
        </p:nvCxnSpPr>
        <p:spPr>
          <a:xfrm flipH="1">
            <a:off x="8637409" y="4880628"/>
            <a:ext cx="1961" cy="6956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CB0574-5EDC-2BA7-2D41-31CE42B0432F}"/>
              </a:ext>
            </a:extLst>
          </p:cNvPr>
          <p:cNvCxnSpPr>
            <a:cxnSpLocks/>
          </p:cNvCxnSpPr>
          <p:nvPr/>
        </p:nvCxnSpPr>
        <p:spPr>
          <a:xfrm flipH="1" flipV="1">
            <a:off x="4826788" y="5527457"/>
            <a:ext cx="3798871" cy="56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B00DF6-1FCC-9C74-BBF8-6E31AD6FF63B}"/>
              </a:ext>
            </a:extLst>
          </p:cNvPr>
          <p:cNvCxnSpPr>
            <a:cxnSpLocks/>
          </p:cNvCxnSpPr>
          <p:nvPr/>
        </p:nvCxnSpPr>
        <p:spPr>
          <a:xfrm flipV="1">
            <a:off x="4763390" y="4860959"/>
            <a:ext cx="9880" cy="66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049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3922-3B96-BA53-4669-23D48ACC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8EF7-FB72-5ECC-4B8B-5F7DFF4AB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Execution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1574A-1A20-EF37-2268-CC0839F05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2000"/>
              <a:t>Check if ID_EX is valid</a:t>
            </a:r>
          </a:p>
          <a:p>
            <a:pPr marL="342900" indent="-342900">
              <a:buAutoNum type="arabicPeriod"/>
            </a:pPr>
            <a:r>
              <a:rPr lang="en-US" sz="2000"/>
              <a:t> parses opcode</a:t>
            </a:r>
          </a:p>
          <a:p>
            <a:pPr marL="342900" indent="-342900">
              <a:buAutoNum type="arabicPeriod"/>
            </a:pPr>
            <a:r>
              <a:rPr lang="en-US" sz="2000"/>
              <a:t>Check opcode for a shift instruction or an immediate instruction.</a:t>
            </a:r>
          </a:p>
          <a:p>
            <a:pPr marL="342900" indent="-342900">
              <a:buAutoNum type="arabicPeriod"/>
            </a:pPr>
            <a:r>
              <a:rPr lang="en-US" sz="2000"/>
              <a:t>Calculates results from the ALU</a:t>
            </a:r>
          </a:p>
          <a:p>
            <a:pPr marL="342900" indent="-342900">
              <a:buAutoNum type="arabicPeriod"/>
            </a:pPr>
            <a:r>
              <a:rPr lang="en-US" sz="2000"/>
              <a:t>Propagate data to EX_MEM</a:t>
            </a:r>
          </a:p>
          <a:p>
            <a:pPr marL="342900" indent="-342900">
              <a:buAutoNum type="arabicPeriod"/>
            </a:pP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58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ED95-430F-C190-87F9-DB11564A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D1AA-3F0F-4957-2D7B-6FD73335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System Architecture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BB524-51BC-21A7-AC06-15A0863CFDFB}"/>
              </a:ext>
            </a:extLst>
          </p:cNvPr>
          <p:cNvSpPr txBox="1"/>
          <p:nvPr/>
        </p:nvSpPr>
        <p:spPr>
          <a:xfrm>
            <a:off x="2523434" y="3867954"/>
            <a:ext cx="1246448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Fetch</a:t>
            </a:r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241C56-AB14-C1F6-0871-25BB5E8E6C83}"/>
              </a:ext>
            </a:extLst>
          </p:cNvPr>
          <p:cNvCxnSpPr>
            <a:cxnSpLocks/>
          </p:cNvCxnSpPr>
          <p:nvPr/>
        </p:nvCxnSpPr>
        <p:spPr>
          <a:xfrm>
            <a:off x="3770427" y="4355908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2C5682-FA04-1608-278A-D8AB947A1AF3}"/>
              </a:ext>
            </a:extLst>
          </p:cNvPr>
          <p:cNvSpPr txBox="1"/>
          <p:nvPr/>
        </p:nvSpPr>
        <p:spPr>
          <a:xfrm>
            <a:off x="4057871" y="3867953"/>
            <a:ext cx="1225571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Decode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56E3E-A26D-0D04-EC8F-0A68BB1FC24E}"/>
              </a:ext>
            </a:extLst>
          </p:cNvPr>
          <p:cNvSpPr txBox="1"/>
          <p:nvPr/>
        </p:nvSpPr>
        <p:spPr>
          <a:xfrm>
            <a:off x="3603802" y="2944159"/>
            <a:ext cx="677556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IF_ID</a:t>
            </a:r>
          </a:p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AA098F-018B-C4CB-3EE0-2DB81E9F4817}"/>
              </a:ext>
            </a:extLst>
          </p:cNvPr>
          <p:cNvCxnSpPr>
            <a:cxnSpLocks/>
          </p:cNvCxnSpPr>
          <p:nvPr/>
        </p:nvCxnSpPr>
        <p:spPr>
          <a:xfrm>
            <a:off x="3911344" y="3593909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B7D519-71DD-D6D3-3A92-6F9DE08832B1}"/>
              </a:ext>
            </a:extLst>
          </p:cNvPr>
          <p:cNvCxnSpPr>
            <a:cxnSpLocks/>
          </p:cNvCxnSpPr>
          <p:nvPr/>
        </p:nvCxnSpPr>
        <p:spPr>
          <a:xfrm>
            <a:off x="6134714" y="4303716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675225-6C50-67C8-EF66-D449B60C730B}"/>
              </a:ext>
            </a:extLst>
          </p:cNvPr>
          <p:cNvSpPr txBox="1"/>
          <p:nvPr/>
        </p:nvSpPr>
        <p:spPr>
          <a:xfrm>
            <a:off x="5581870" y="3894047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Execute</a:t>
            </a:r>
          </a:p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397FAC-6D18-8F4E-B8F8-047A9F09EC7A}"/>
              </a:ext>
            </a:extLst>
          </p:cNvPr>
          <p:cNvCxnSpPr>
            <a:cxnSpLocks/>
          </p:cNvCxnSpPr>
          <p:nvPr/>
        </p:nvCxnSpPr>
        <p:spPr>
          <a:xfrm>
            <a:off x="5283988" y="4382003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6D7B89-C5F1-D998-0469-5BAC4B12165E}"/>
              </a:ext>
            </a:extLst>
          </p:cNvPr>
          <p:cNvCxnSpPr>
            <a:cxnSpLocks/>
          </p:cNvCxnSpPr>
          <p:nvPr/>
        </p:nvCxnSpPr>
        <p:spPr>
          <a:xfrm>
            <a:off x="5398809" y="359390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48B6B2-4537-0AAD-3380-32E61121D966}"/>
              </a:ext>
            </a:extLst>
          </p:cNvPr>
          <p:cNvSpPr txBox="1"/>
          <p:nvPr/>
        </p:nvSpPr>
        <p:spPr>
          <a:xfrm>
            <a:off x="5059952" y="2944158"/>
            <a:ext cx="745405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ID_EX</a:t>
            </a:r>
          </a:p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8B0163-5A15-3DE2-73F9-C0A004E1B9A3}"/>
              </a:ext>
            </a:extLst>
          </p:cNvPr>
          <p:cNvCxnSpPr>
            <a:cxnSpLocks/>
          </p:cNvCxnSpPr>
          <p:nvPr/>
        </p:nvCxnSpPr>
        <p:spPr>
          <a:xfrm>
            <a:off x="6562686" y="4382002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5A42939-BE68-E760-3204-B4276AF7A1DE}"/>
              </a:ext>
            </a:extLst>
          </p:cNvPr>
          <p:cNvSpPr txBox="1"/>
          <p:nvPr/>
        </p:nvSpPr>
        <p:spPr>
          <a:xfrm>
            <a:off x="6850129" y="3920142"/>
            <a:ext cx="980269" cy="923330"/>
          </a:xfrm>
          <a:prstGeom prst="rect">
            <a:avLst/>
          </a:prstGeom>
          <a:solidFill>
            <a:srgbClr val="92D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Memory</a:t>
            </a:r>
          </a:p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01A1A89-192B-9367-B42E-913E2F30522B}"/>
              </a:ext>
            </a:extLst>
          </p:cNvPr>
          <p:cNvCxnSpPr>
            <a:cxnSpLocks/>
          </p:cNvCxnSpPr>
          <p:nvPr/>
        </p:nvCxnSpPr>
        <p:spPr>
          <a:xfrm>
            <a:off x="6703603" y="3614784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AE9248-AD15-1161-FC6B-120837A66513}"/>
              </a:ext>
            </a:extLst>
          </p:cNvPr>
          <p:cNvSpPr txBox="1"/>
          <p:nvPr/>
        </p:nvSpPr>
        <p:spPr>
          <a:xfrm>
            <a:off x="6166419" y="2944157"/>
            <a:ext cx="101680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EX_MEM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90EF3-85E7-8D2E-AC52-E38DCEA885B9}"/>
              </a:ext>
            </a:extLst>
          </p:cNvPr>
          <p:cNvSpPr txBox="1"/>
          <p:nvPr/>
        </p:nvSpPr>
        <p:spPr>
          <a:xfrm>
            <a:off x="8118389" y="3956675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Write Back</a:t>
            </a:r>
          </a:p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B7E3F3-97A0-CAA0-619C-840EA0816AFB}"/>
              </a:ext>
            </a:extLst>
          </p:cNvPr>
          <p:cNvCxnSpPr>
            <a:cxnSpLocks/>
          </p:cNvCxnSpPr>
          <p:nvPr/>
        </p:nvCxnSpPr>
        <p:spPr>
          <a:xfrm>
            <a:off x="7830945" y="4382001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B70A62-D072-5DA1-0395-6F71BCFFF222}"/>
              </a:ext>
            </a:extLst>
          </p:cNvPr>
          <p:cNvCxnSpPr>
            <a:cxnSpLocks/>
          </p:cNvCxnSpPr>
          <p:nvPr/>
        </p:nvCxnSpPr>
        <p:spPr>
          <a:xfrm>
            <a:off x="7971862" y="364609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EB9BFF2-821D-0722-C27F-2115AD14C104}"/>
              </a:ext>
            </a:extLst>
          </p:cNvPr>
          <p:cNvSpPr txBox="1"/>
          <p:nvPr/>
        </p:nvSpPr>
        <p:spPr>
          <a:xfrm>
            <a:off x="7434679" y="2944157"/>
            <a:ext cx="113684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MEM_WB</a:t>
            </a:r>
          </a:p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D2EC35-60B8-2F39-DB27-511C1057DF45}"/>
              </a:ext>
            </a:extLst>
          </p:cNvPr>
          <p:cNvCxnSpPr>
            <a:cxnSpLocks/>
          </p:cNvCxnSpPr>
          <p:nvPr/>
        </p:nvCxnSpPr>
        <p:spPr>
          <a:xfrm>
            <a:off x="4281906" y="3265099"/>
            <a:ext cx="770476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BEC6E1-0038-610E-5367-68D41962496D}"/>
              </a:ext>
            </a:extLst>
          </p:cNvPr>
          <p:cNvCxnSpPr>
            <a:cxnSpLocks/>
          </p:cNvCxnSpPr>
          <p:nvPr/>
        </p:nvCxnSpPr>
        <p:spPr>
          <a:xfrm>
            <a:off x="5805905" y="3270317"/>
            <a:ext cx="34250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E977CB8-58C4-B705-A980-65932EFF96A8}"/>
              </a:ext>
            </a:extLst>
          </p:cNvPr>
          <p:cNvCxnSpPr>
            <a:cxnSpLocks/>
          </p:cNvCxnSpPr>
          <p:nvPr/>
        </p:nvCxnSpPr>
        <p:spPr>
          <a:xfrm flipV="1">
            <a:off x="7178549" y="3253299"/>
            <a:ext cx="258997" cy="1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BA4B86B-4BA0-D32E-27AD-0F3697155A8D}"/>
              </a:ext>
            </a:extLst>
          </p:cNvPr>
          <p:cNvCxnSpPr>
            <a:cxnSpLocks/>
          </p:cNvCxnSpPr>
          <p:nvPr/>
        </p:nvCxnSpPr>
        <p:spPr>
          <a:xfrm flipH="1" flipV="1">
            <a:off x="6675544" y="2522612"/>
            <a:ext cx="1961" cy="41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A193F3F-C79D-25A7-A754-04AB2D803202}"/>
              </a:ext>
            </a:extLst>
          </p:cNvPr>
          <p:cNvCxnSpPr>
            <a:cxnSpLocks/>
          </p:cNvCxnSpPr>
          <p:nvPr/>
        </p:nvCxnSpPr>
        <p:spPr>
          <a:xfrm flipH="1" flipV="1">
            <a:off x="3126505" y="2496517"/>
            <a:ext cx="3577095" cy="22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2AEAD1-C2B8-0C91-8222-25A46203230B}"/>
              </a:ext>
            </a:extLst>
          </p:cNvPr>
          <p:cNvCxnSpPr>
            <a:cxnSpLocks/>
          </p:cNvCxnSpPr>
          <p:nvPr/>
        </p:nvCxnSpPr>
        <p:spPr>
          <a:xfrm flipH="1">
            <a:off x="3152599" y="2550070"/>
            <a:ext cx="7180" cy="1292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BF8F16-57F2-3D43-E2A3-141EA4018A21}"/>
              </a:ext>
            </a:extLst>
          </p:cNvPr>
          <p:cNvCxnSpPr>
            <a:cxnSpLocks/>
          </p:cNvCxnSpPr>
          <p:nvPr/>
        </p:nvCxnSpPr>
        <p:spPr>
          <a:xfrm flipH="1">
            <a:off x="8637409" y="4880628"/>
            <a:ext cx="1961" cy="6956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C49E484-326C-8E7A-D61F-5F0D67A39287}"/>
              </a:ext>
            </a:extLst>
          </p:cNvPr>
          <p:cNvCxnSpPr>
            <a:cxnSpLocks/>
          </p:cNvCxnSpPr>
          <p:nvPr/>
        </p:nvCxnSpPr>
        <p:spPr>
          <a:xfrm flipH="1" flipV="1">
            <a:off x="4826788" y="5527457"/>
            <a:ext cx="3798871" cy="56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D1E259-9B27-8B25-7910-C20A1CC9A288}"/>
              </a:ext>
            </a:extLst>
          </p:cNvPr>
          <p:cNvCxnSpPr>
            <a:cxnSpLocks/>
          </p:cNvCxnSpPr>
          <p:nvPr/>
        </p:nvCxnSpPr>
        <p:spPr>
          <a:xfrm flipV="1">
            <a:off x="4763390" y="4860959"/>
            <a:ext cx="9880" cy="66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660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7A23F-9FC9-6654-FB77-D407ADE07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84A1-DE33-DA69-1C57-25E8B9DF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CC0C-BE8A-D188-C44D-92EA5FFEA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2000"/>
              <a:t>Check if EX_MEM is valid</a:t>
            </a:r>
          </a:p>
          <a:p>
            <a:pPr marL="342900" indent="-342900">
              <a:buAutoNum type="arabicPeriod"/>
            </a:pPr>
            <a:r>
              <a:rPr lang="en-US" sz="2000"/>
              <a:t>Checks control unit for a read or write instruction</a:t>
            </a:r>
          </a:p>
          <a:p>
            <a:pPr marL="342900" indent="-342900">
              <a:buAutoNum type="arabicPeriod"/>
            </a:pPr>
            <a:r>
              <a:rPr lang="en-US" sz="2000"/>
              <a:t>Propagate data to MEM_WB</a:t>
            </a:r>
          </a:p>
          <a:p>
            <a:pPr marL="342900" indent="-342900">
              <a:buAutoNum type="arabicPeriod"/>
            </a:pP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8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DD80-2224-7A32-5C64-143C5C99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D416-302A-CB05-71AB-C8CD417C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System Architecture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D2DC4-8C3A-2E91-1457-16A8EDA8763E}"/>
              </a:ext>
            </a:extLst>
          </p:cNvPr>
          <p:cNvSpPr txBox="1"/>
          <p:nvPr/>
        </p:nvSpPr>
        <p:spPr>
          <a:xfrm>
            <a:off x="2523434" y="3867954"/>
            <a:ext cx="1246448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Fetch</a:t>
            </a:r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222A4C-F233-9AFD-5F4A-D87A91919C63}"/>
              </a:ext>
            </a:extLst>
          </p:cNvPr>
          <p:cNvCxnSpPr>
            <a:cxnSpLocks/>
          </p:cNvCxnSpPr>
          <p:nvPr/>
        </p:nvCxnSpPr>
        <p:spPr>
          <a:xfrm>
            <a:off x="3770427" y="4355908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CEB32DE-A5E2-F1F9-CAE9-BADBBAECDDA7}"/>
              </a:ext>
            </a:extLst>
          </p:cNvPr>
          <p:cNvSpPr txBox="1"/>
          <p:nvPr/>
        </p:nvSpPr>
        <p:spPr>
          <a:xfrm>
            <a:off x="4057871" y="3867953"/>
            <a:ext cx="1225571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Instruction Decode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2D168-4C8A-3189-C1DF-88FD49B33B84}"/>
              </a:ext>
            </a:extLst>
          </p:cNvPr>
          <p:cNvSpPr txBox="1"/>
          <p:nvPr/>
        </p:nvSpPr>
        <p:spPr>
          <a:xfrm>
            <a:off x="3603802" y="2944159"/>
            <a:ext cx="677556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IF_ID</a:t>
            </a:r>
          </a:p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A36DB4-3FFB-D481-E18D-087516F03EA8}"/>
              </a:ext>
            </a:extLst>
          </p:cNvPr>
          <p:cNvCxnSpPr>
            <a:cxnSpLocks/>
          </p:cNvCxnSpPr>
          <p:nvPr/>
        </p:nvCxnSpPr>
        <p:spPr>
          <a:xfrm>
            <a:off x="3911344" y="3593909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CE579E-722A-6E7D-2070-219BE3E101C4}"/>
              </a:ext>
            </a:extLst>
          </p:cNvPr>
          <p:cNvCxnSpPr>
            <a:cxnSpLocks/>
          </p:cNvCxnSpPr>
          <p:nvPr/>
        </p:nvCxnSpPr>
        <p:spPr>
          <a:xfrm>
            <a:off x="6134714" y="4303716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D513E4-EFCC-95A4-3720-74441E033FEE}"/>
              </a:ext>
            </a:extLst>
          </p:cNvPr>
          <p:cNvSpPr txBox="1"/>
          <p:nvPr/>
        </p:nvSpPr>
        <p:spPr>
          <a:xfrm>
            <a:off x="5581870" y="3894047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Execute</a:t>
            </a:r>
          </a:p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9D6366-ABA5-F977-CA3A-E2C47C71FD17}"/>
              </a:ext>
            </a:extLst>
          </p:cNvPr>
          <p:cNvCxnSpPr>
            <a:cxnSpLocks/>
          </p:cNvCxnSpPr>
          <p:nvPr/>
        </p:nvCxnSpPr>
        <p:spPr>
          <a:xfrm>
            <a:off x="5283988" y="4382003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D59DAB-8CC7-1334-6804-740727FDD77A}"/>
              </a:ext>
            </a:extLst>
          </p:cNvPr>
          <p:cNvCxnSpPr>
            <a:cxnSpLocks/>
          </p:cNvCxnSpPr>
          <p:nvPr/>
        </p:nvCxnSpPr>
        <p:spPr>
          <a:xfrm>
            <a:off x="5398809" y="359390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B69A5B-60E9-9C88-0EFC-837808AB76FF}"/>
              </a:ext>
            </a:extLst>
          </p:cNvPr>
          <p:cNvSpPr txBox="1"/>
          <p:nvPr/>
        </p:nvSpPr>
        <p:spPr>
          <a:xfrm>
            <a:off x="5059952" y="2944158"/>
            <a:ext cx="745405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ID_EX</a:t>
            </a:r>
          </a:p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2868C6-77BD-32FC-66B1-AA32B0AB6C2A}"/>
              </a:ext>
            </a:extLst>
          </p:cNvPr>
          <p:cNvCxnSpPr>
            <a:cxnSpLocks/>
          </p:cNvCxnSpPr>
          <p:nvPr/>
        </p:nvCxnSpPr>
        <p:spPr>
          <a:xfrm>
            <a:off x="6562686" y="4382002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2A1B75-32F3-0E38-F6CD-6FB7066A2A1A}"/>
              </a:ext>
            </a:extLst>
          </p:cNvPr>
          <p:cNvSpPr txBox="1"/>
          <p:nvPr/>
        </p:nvSpPr>
        <p:spPr>
          <a:xfrm>
            <a:off x="6850129" y="3920142"/>
            <a:ext cx="980269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Memory</a:t>
            </a:r>
          </a:p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962513-316C-DF2A-7F7B-E00A509F318C}"/>
              </a:ext>
            </a:extLst>
          </p:cNvPr>
          <p:cNvCxnSpPr>
            <a:cxnSpLocks/>
          </p:cNvCxnSpPr>
          <p:nvPr/>
        </p:nvCxnSpPr>
        <p:spPr>
          <a:xfrm>
            <a:off x="6703603" y="3614784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E64D84-8E2B-D5D2-A202-C6DDF36C7F6A}"/>
              </a:ext>
            </a:extLst>
          </p:cNvPr>
          <p:cNvSpPr txBox="1"/>
          <p:nvPr/>
        </p:nvSpPr>
        <p:spPr>
          <a:xfrm>
            <a:off x="6166419" y="2944157"/>
            <a:ext cx="101680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EX_MEM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01EE1-0D27-04E4-1085-0A3FDE6F4184}"/>
              </a:ext>
            </a:extLst>
          </p:cNvPr>
          <p:cNvSpPr txBox="1"/>
          <p:nvPr/>
        </p:nvSpPr>
        <p:spPr>
          <a:xfrm>
            <a:off x="8118389" y="3956675"/>
            <a:ext cx="980269" cy="923330"/>
          </a:xfrm>
          <a:prstGeom prst="rect">
            <a:avLst/>
          </a:prstGeom>
          <a:solidFill>
            <a:srgbClr val="92D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Write Back</a:t>
            </a:r>
          </a:p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C6EDB6-035B-247E-A460-AD15FC3AA140}"/>
              </a:ext>
            </a:extLst>
          </p:cNvPr>
          <p:cNvCxnSpPr>
            <a:cxnSpLocks/>
          </p:cNvCxnSpPr>
          <p:nvPr/>
        </p:nvCxnSpPr>
        <p:spPr>
          <a:xfrm>
            <a:off x="7830945" y="4382001"/>
            <a:ext cx="28509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E0933D-9E3C-C282-5CCD-B5B58E843FAE}"/>
              </a:ext>
            </a:extLst>
          </p:cNvPr>
          <p:cNvCxnSpPr>
            <a:cxnSpLocks/>
          </p:cNvCxnSpPr>
          <p:nvPr/>
        </p:nvCxnSpPr>
        <p:spPr>
          <a:xfrm>
            <a:off x="7971862" y="3646098"/>
            <a:ext cx="3258" cy="6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4A17DFB-5BDB-FF5F-1B70-6C1F8D65B81D}"/>
              </a:ext>
            </a:extLst>
          </p:cNvPr>
          <p:cNvSpPr txBox="1"/>
          <p:nvPr/>
        </p:nvSpPr>
        <p:spPr>
          <a:xfrm>
            <a:off x="7434679" y="2944157"/>
            <a:ext cx="1136840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MEM_WB</a:t>
            </a:r>
          </a:p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F618CF-F17D-9587-AFF1-09A1A6E9CD6E}"/>
              </a:ext>
            </a:extLst>
          </p:cNvPr>
          <p:cNvCxnSpPr>
            <a:cxnSpLocks/>
          </p:cNvCxnSpPr>
          <p:nvPr/>
        </p:nvCxnSpPr>
        <p:spPr>
          <a:xfrm>
            <a:off x="4281906" y="3265099"/>
            <a:ext cx="770476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D56E11-8AE6-2566-9313-92338947C7F9}"/>
              </a:ext>
            </a:extLst>
          </p:cNvPr>
          <p:cNvCxnSpPr>
            <a:cxnSpLocks/>
          </p:cNvCxnSpPr>
          <p:nvPr/>
        </p:nvCxnSpPr>
        <p:spPr>
          <a:xfrm>
            <a:off x="5805905" y="3270317"/>
            <a:ext cx="342503" cy="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20EEE3-8E77-01FA-41A1-9058ACC3C63F}"/>
              </a:ext>
            </a:extLst>
          </p:cNvPr>
          <p:cNvCxnSpPr>
            <a:cxnSpLocks/>
          </p:cNvCxnSpPr>
          <p:nvPr/>
        </p:nvCxnSpPr>
        <p:spPr>
          <a:xfrm flipV="1">
            <a:off x="7178549" y="3253299"/>
            <a:ext cx="258997" cy="1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DB79B2-F323-5E4F-2DCC-96C768E108E4}"/>
              </a:ext>
            </a:extLst>
          </p:cNvPr>
          <p:cNvCxnSpPr>
            <a:cxnSpLocks/>
          </p:cNvCxnSpPr>
          <p:nvPr/>
        </p:nvCxnSpPr>
        <p:spPr>
          <a:xfrm flipH="1" flipV="1">
            <a:off x="6675544" y="2522612"/>
            <a:ext cx="1961" cy="41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12F031-597E-7F57-47C2-AFB8388B0125}"/>
              </a:ext>
            </a:extLst>
          </p:cNvPr>
          <p:cNvCxnSpPr>
            <a:cxnSpLocks/>
          </p:cNvCxnSpPr>
          <p:nvPr/>
        </p:nvCxnSpPr>
        <p:spPr>
          <a:xfrm flipH="1" flipV="1">
            <a:off x="3126505" y="2496517"/>
            <a:ext cx="3577095" cy="22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85DD87-864A-7193-1DDC-5344F1AE137E}"/>
              </a:ext>
            </a:extLst>
          </p:cNvPr>
          <p:cNvCxnSpPr>
            <a:cxnSpLocks/>
          </p:cNvCxnSpPr>
          <p:nvPr/>
        </p:nvCxnSpPr>
        <p:spPr>
          <a:xfrm flipH="1">
            <a:off x="3152599" y="2550070"/>
            <a:ext cx="7180" cy="1292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5453586-EFEC-3419-873B-49ADCDE53568}"/>
              </a:ext>
            </a:extLst>
          </p:cNvPr>
          <p:cNvCxnSpPr>
            <a:cxnSpLocks/>
          </p:cNvCxnSpPr>
          <p:nvPr/>
        </p:nvCxnSpPr>
        <p:spPr>
          <a:xfrm flipH="1">
            <a:off x="8637409" y="4880628"/>
            <a:ext cx="1961" cy="6956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765320-161F-ABB3-2C8B-33C36A3D5279}"/>
              </a:ext>
            </a:extLst>
          </p:cNvPr>
          <p:cNvCxnSpPr>
            <a:cxnSpLocks/>
          </p:cNvCxnSpPr>
          <p:nvPr/>
        </p:nvCxnSpPr>
        <p:spPr>
          <a:xfrm flipH="1" flipV="1">
            <a:off x="4826788" y="5527457"/>
            <a:ext cx="3798871" cy="56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D17B06-8D07-50BA-96AA-A8E3532389E8}"/>
              </a:ext>
            </a:extLst>
          </p:cNvPr>
          <p:cNvCxnSpPr>
            <a:cxnSpLocks/>
          </p:cNvCxnSpPr>
          <p:nvPr/>
        </p:nvCxnSpPr>
        <p:spPr>
          <a:xfrm flipV="1">
            <a:off x="4763390" y="4860959"/>
            <a:ext cx="9880" cy="66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313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FF99-54C1-3764-258F-9966C3FB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6DC0-A5A7-5073-0FDB-C5839A8A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Write Back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5E62-EA2A-6817-ED01-B6584AC77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Check if MEM_WB is valid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Writes back to Reg File</a:t>
            </a:r>
          </a:p>
          <a:p>
            <a:pPr>
              <a:buChar char="•"/>
            </a:pP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44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F47CA-0FA0-9B20-18CD-A19C6AD0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D035-5091-D5EA-7DBA-0E926B5B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PC Update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B72D-0505-3A65-A1F8-1EC5C0FEB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528"/>
            <a:ext cx="11277599" cy="45390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2000"/>
              <a:t>Check if EX_MEM is valid</a:t>
            </a:r>
          </a:p>
          <a:p>
            <a:pPr marL="342900" indent="-342900">
              <a:buAutoNum type="arabicPeriod"/>
            </a:pPr>
            <a:r>
              <a:rPr lang="en-US" sz="2000"/>
              <a:t>Check for a jump or a branch instruction</a:t>
            </a:r>
          </a:p>
          <a:p>
            <a:pPr marL="342900" indent="-342900">
              <a:buAutoNum type="arabicPeriod"/>
            </a:pPr>
            <a:r>
              <a:rPr lang="en-US" sz="2000"/>
              <a:t>Update PC</a:t>
            </a:r>
          </a:p>
          <a:p>
            <a:pPr marL="342900" indent="-342900">
              <a:buAutoNum type="arabicPeriod"/>
            </a:pP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81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E11F-E715-81A7-F2C6-823BA79A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Simulation Loop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B432-4E51-B548-678C-CBD4F75E6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Execute stages in reverse order (WB to ID) to ensure proper data flow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Fetch current instruction before advancing the Program Counter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Update all pipeline latches simultaneously at the end of each cycle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Continue until the program ends and the pipeline is empty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48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4188-1668-679D-09BD-F10C4B50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Biome"/>
              </a:rPr>
              <a:t>Debug mode output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1842A-1E8F-8A04-E888-C13E909A1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Toggle cycle-by-cycle debug mode using the -d flag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Display active control signals and current instructions in each latch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Automatically dump the Register File and Memory state upon completion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/>
              <a:t>Monitor cycle count and next PC address for troubleshooting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84032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in32_SD_V5" id="{E43A2CAE-029B-46E8-8085-D6AC37FEAB72}" vid="{9BD0D0BD-C5D3-42A7-8670-EE25EA2223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Prismatic polygons</vt:lpstr>
      <vt:lpstr>MIPS Simulator</vt:lpstr>
      <vt:lpstr>Project Overview</vt:lpstr>
      <vt:lpstr>Components</vt:lpstr>
      <vt:lpstr>Register File</vt:lpstr>
      <vt:lpstr>Memory</vt:lpstr>
      <vt:lpstr>Assembler</vt:lpstr>
      <vt:lpstr>Control Unit</vt:lpstr>
      <vt:lpstr>ALU</vt:lpstr>
      <vt:lpstr>System Architecture</vt:lpstr>
      <vt:lpstr>System Architecture</vt:lpstr>
      <vt:lpstr>Instruction Fetch</vt:lpstr>
      <vt:lpstr>System Architecture</vt:lpstr>
      <vt:lpstr>Instruction Decode</vt:lpstr>
      <vt:lpstr>Control Unit  Signal Truth Table</vt:lpstr>
      <vt:lpstr>System Architecture</vt:lpstr>
      <vt:lpstr>Execution</vt:lpstr>
      <vt:lpstr>System Architecture</vt:lpstr>
      <vt:lpstr>Memory</vt:lpstr>
      <vt:lpstr>System Architecture</vt:lpstr>
      <vt:lpstr>Write Back</vt:lpstr>
      <vt:lpstr>PC Update</vt:lpstr>
      <vt:lpstr>Simulation Loop</vt:lpstr>
      <vt:lpstr>Debug mode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</cp:revision>
  <dcterms:created xsi:type="dcterms:W3CDTF">2026-04-16T21:11:52Z</dcterms:created>
  <dcterms:modified xsi:type="dcterms:W3CDTF">2026-04-21T02:53:22Z</dcterms:modified>
</cp:coreProperties>
</file>